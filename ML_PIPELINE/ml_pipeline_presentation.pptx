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5" r:id="rId3"/>
    <p:sldId id="276" r:id="rId4"/>
    <p:sldId id="274" r:id="rId5"/>
    <p:sldId id="272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45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68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ML Bioinformatics Pipeline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3F4F6"/>
                </a:solidFill>
              </a:rPr>
              <a:t>Ensemble Machine Learning + Differential Expression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3F4F6"/>
                </a:solidFill>
              </a:rPr>
              <a:t>Microservices Architecture | Docker + gRPC | Python + 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073328C-5E80-068A-428D-8A0D5CC139D7}"/>
              </a:ext>
            </a:extLst>
          </p:cNvPr>
          <p:cNvGrpSpPr/>
          <p:nvPr/>
        </p:nvGrpSpPr>
        <p:grpSpPr>
          <a:xfrm>
            <a:off x="156340" y="2293495"/>
            <a:ext cx="4437088" cy="2532747"/>
            <a:chOff x="1501627" y="1724804"/>
            <a:chExt cx="4572000" cy="2282825"/>
          </a:xfrm>
        </p:grpSpPr>
        <p:pic>
          <p:nvPicPr>
            <p:cNvPr id="1028" name="Picture 4" descr="Supervised Machine Learning, Unsupervised Machine Learning, and Deep  Learning - CFA, FRM, and Actuarial Exams Study Notes">
              <a:extLst>
                <a:ext uri="{FF2B5EF4-FFF2-40B4-BE49-F238E27FC236}">
                  <a16:creationId xmlns:a16="http://schemas.microsoft.com/office/drawing/2014/main" id="{054D3397-7C3E-73E7-9B74-3C9DC2DD8F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1627" y="1724804"/>
              <a:ext cx="4572000" cy="2282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28A4448-5D93-7CFD-0BE8-045CD266FAC7}"/>
                </a:ext>
              </a:extLst>
            </p:cNvPr>
            <p:cNvSpPr/>
            <p:nvPr/>
          </p:nvSpPr>
          <p:spPr>
            <a:xfrm>
              <a:off x="1501627" y="1783410"/>
              <a:ext cx="3265245" cy="532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18. Differential gene expression analysis — Single-cell best practices">
            <a:extLst>
              <a:ext uri="{FF2B5EF4-FFF2-40B4-BE49-F238E27FC236}">
                <a16:creationId xmlns:a16="http://schemas.microsoft.com/office/drawing/2014/main" id="{FB05C640-A85D-4178-1442-18F31F977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983" y="399290"/>
            <a:ext cx="4489557" cy="2028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eyond Words: The Future of Machine Learning with Transformer Models">
            <a:extLst>
              <a:ext uri="{FF2B5EF4-FFF2-40B4-BE49-F238E27FC236}">
                <a16:creationId xmlns:a16="http://schemas.microsoft.com/office/drawing/2014/main" id="{7786B7F1-089D-571F-822C-101A7B839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434" y="3043003"/>
            <a:ext cx="4286129" cy="1915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2C0D23-D004-B92C-EBE9-827AC6F720DD}"/>
              </a:ext>
            </a:extLst>
          </p:cNvPr>
          <p:cNvSpPr txBox="1"/>
          <p:nvPr/>
        </p:nvSpPr>
        <p:spPr>
          <a:xfrm>
            <a:off x="2039826" y="158501"/>
            <a:ext cx="3931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Statistical approach (e.g. DGEA)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0EBD43-138B-1195-C9E6-3EB8358F00E7}"/>
              </a:ext>
            </a:extLst>
          </p:cNvPr>
          <p:cNvSpPr txBox="1"/>
          <p:nvPr/>
        </p:nvSpPr>
        <p:spPr>
          <a:xfrm>
            <a:off x="789674" y="2555589"/>
            <a:ext cx="3503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ML approach (e.g. random forest)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77455-DA73-CB88-B2A4-417D6895380A}"/>
              </a:ext>
            </a:extLst>
          </p:cNvPr>
          <p:cNvSpPr txBox="1"/>
          <p:nvPr/>
        </p:nvSpPr>
        <p:spPr>
          <a:xfrm>
            <a:off x="5239063" y="2653954"/>
            <a:ext cx="3482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 approach (e.g. transformers)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F94682-164F-7976-E976-44776C7B67DF}"/>
              </a:ext>
            </a:extLst>
          </p:cNvPr>
          <p:cNvSpPr txBox="1"/>
          <p:nvPr/>
        </p:nvSpPr>
        <p:spPr>
          <a:xfrm>
            <a:off x="6213423" y="239843"/>
            <a:ext cx="25633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Goals:</a:t>
            </a:r>
          </a:p>
          <a:p>
            <a:pPr marL="342900" indent="-342900">
              <a:buAutoNum type="arabicPeriod"/>
            </a:pPr>
            <a:r>
              <a:rPr lang="en-US" dirty="0"/>
              <a:t>Find intersecting genes from each approach</a:t>
            </a:r>
          </a:p>
          <a:p>
            <a:pPr marL="342900" indent="-342900">
              <a:buAutoNum type="arabicPeriod"/>
            </a:pPr>
            <a:r>
              <a:rPr lang="en-US" dirty="0"/>
              <a:t>Compare/contrast performance from each approach</a:t>
            </a:r>
          </a:p>
          <a:p>
            <a:pPr marL="342900" indent="-342900">
              <a:buAutoNum type="arabicPeriod"/>
            </a:pPr>
            <a:r>
              <a:rPr lang="en-US" dirty="0"/>
              <a:t>Identify ”best” genes</a:t>
            </a:r>
          </a:p>
        </p:txBody>
      </p:sp>
    </p:spTree>
    <p:extLst>
      <p:ext uri="{BB962C8B-B14F-4D97-AF65-F5344CB8AC3E}">
        <p14:creationId xmlns:p14="http://schemas.microsoft.com/office/powerpoint/2010/main" val="1873158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676182A-1310-A0FB-EAFA-A27444B13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247" y="514350"/>
            <a:ext cx="8229600" cy="462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52275F-E8C8-FF54-311C-333C5519A1A4}"/>
              </a:ext>
            </a:extLst>
          </p:cNvPr>
          <p:cNvSpPr txBox="1"/>
          <p:nvPr/>
        </p:nvSpPr>
        <p:spPr>
          <a:xfrm>
            <a:off x="631371" y="0"/>
            <a:ext cx="667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Ensemble approach</a:t>
            </a:r>
          </a:p>
        </p:txBody>
      </p:sp>
    </p:spTree>
    <p:extLst>
      <p:ext uri="{BB962C8B-B14F-4D97-AF65-F5344CB8AC3E}">
        <p14:creationId xmlns:p14="http://schemas.microsoft.com/office/powerpoint/2010/main" val="2924577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0C05B47-D088-D34D-07AF-CFAC8BA05DE0}"/>
              </a:ext>
            </a:extLst>
          </p:cNvPr>
          <p:cNvSpPr txBox="1"/>
          <p:nvPr/>
        </p:nvSpPr>
        <p:spPr>
          <a:xfrm>
            <a:off x="209862" y="217259"/>
            <a:ext cx="4572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1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Dataset(s)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Select from OSDR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Provide your own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In any case, validate choice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1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Transformation(s)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TPM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Median of ratios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Log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Standardization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sng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etc</a:t>
            </a:r>
            <a:endParaRPr lang="en-US" sz="1200" b="0" i="0" u="none" strike="sngStrike" dirty="0">
              <a:solidFill>
                <a:srgbClr val="595959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1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Augmentation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Synthetic (</a:t>
            </a:r>
            <a:r>
              <a:rPr lang="en-US" sz="12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cVAE</a:t>
            </a: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2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cGAN</a:t>
            </a: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2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etc</a:t>
            </a: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Variance-stabilizing (</a:t>
            </a:r>
            <a:r>
              <a:rPr lang="en-US" sz="12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boxcox</a:t>
            </a: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, VST, </a:t>
            </a:r>
            <a:r>
              <a:rPr lang="en-US" sz="12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etc</a:t>
            </a: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Power transformations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etc</a:t>
            </a:r>
            <a:endParaRPr lang="en-US" sz="1200" b="0" i="0" u="none" strike="noStrike" dirty="0">
              <a:solidFill>
                <a:srgbClr val="595959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1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Algorithms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Classification (RF, LR, SVM, MLP, </a:t>
            </a:r>
            <a:r>
              <a:rPr lang="en-US" sz="1200" b="0" i="0" u="none" strike="sng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etc</a:t>
            </a: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Regression (linear, ridge, lasso, </a:t>
            </a:r>
            <a:r>
              <a:rPr lang="en-US" sz="1200" b="0" i="0" u="none" strike="sng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elasticnet</a:t>
            </a: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200" b="0" i="0" u="none" strike="sng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etc</a:t>
            </a: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Unsupervised (PCA, </a:t>
            </a:r>
            <a:r>
              <a:rPr lang="en-US" sz="1200" b="0" i="0" u="none" strike="sng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tSNE</a:t>
            </a: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200" b="0" i="0" u="none" strike="sng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uMAP</a:t>
            </a: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, k-means, </a:t>
            </a:r>
            <a:r>
              <a:rPr lang="en-US" sz="1200" b="0" i="0" u="none" strike="sng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etc</a:t>
            </a: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1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Feature importance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built-in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Recursive feature elimination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Permutation feature importance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SHAP values</a:t>
            </a:r>
          </a:p>
          <a:p>
            <a:pPr marL="742950" lvl="1" indent="-285750"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Coefficient magnitude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400B78-9912-A6F1-3CD8-DA0F774EE375}"/>
              </a:ext>
            </a:extLst>
          </p:cNvPr>
          <p:cNvSpPr txBox="1"/>
          <p:nvPr/>
        </p:nvSpPr>
        <p:spPr>
          <a:xfrm>
            <a:off x="4474564" y="124925"/>
            <a:ext cx="4572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1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Performance metrics</a:t>
            </a:r>
          </a:p>
          <a:p>
            <a:pPr marL="457200" rtl="0" fontAlgn="base">
              <a:buFont typeface="Arial" panose="020B0604020202020204" pitchFamily="34" charset="0"/>
              <a:buChar char="•"/>
            </a:pP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Classification (accuracy, AUC, F1 score, </a:t>
            </a:r>
            <a:r>
              <a:rPr lang="en-US" sz="1200" b="0" i="0" u="none" strike="sng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etc</a:t>
            </a: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457200" rtl="0" fontAlgn="base">
              <a:buFont typeface="Arial" panose="020B0604020202020204" pitchFamily="34" charset="0"/>
              <a:buChar char="•"/>
            </a:pP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Regression (RMSE, R^2, </a:t>
            </a:r>
            <a:r>
              <a:rPr lang="en-US" sz="1200" b="0" i="0" u="none" strike="sng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etc</a:t>
            </a: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1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Graphs/tables/figures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Box-and-whisker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QQ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mean vs variance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PCA (or TSNE </a:t>
            </a:r>
            <a:r>
              <a:rPr lang="en-US" sz="12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etc</a:t>
            </a: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Probability densities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train/test/validation performance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Genes most predictive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Graphical abstract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1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Analyses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Statistical (KS-test, t-test, </a:t>
            </a:r>
            <a:r>
              <a:rPr lang="en-US" sz="12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wilcoxon</a:t>
            </a: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2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etc</a:t>
            </a: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DGEA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Pathway / </a:t>
            </a:r>
            <a:r>
              <a:rPr lang="en-US" sz="1200" b="0" i="0" u="none" strike="sng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gene set </a:t>
            </a: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/ overrepresentation analysis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Knowledge graph integration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CRISP (IRM, NLIRM, ICP, NLICP, </a:t>
            </a:r>
            <a:r>
              <a:rPr lang="en-US" sz="12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etc</a:t>
            </a: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1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Artifact generation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Abstract, intro, methods, results, conclusion, bibliography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Or just hypothesis generation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Or just synthetic data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Or just compare ML vs </a:t>
            </a:r>
            <a:r>
              <a:rPr lang="en-US" sz="12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scGPT</a:t>
            </a: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vs DGEA vs CRISP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Or just some graphs/tables/figures</a:t>
            </a:r>
          </a:p>
          <a:p>
            <a:pPr marL="742950" lvl="1" indent="-285750"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Or just … </a:t>
            </a:r>
            <a:r>
              <a:rPr lang="en-US" sz="12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etc</a:t>
            </a:r>
            <a:endParaRPr lang="en-US" sz="1200" b="0" i="0" u="none" strike="noStrike" dirty="0">
              <a:solidFill>
                <a:srgbClr val="595959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139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What is </a:t>
            </a:r>
            <a:r>
              <a:rPr lang="en-US" b="1" dirty="0">
                <a:solidFill>
                  <a:srgbClr val="0891B2"/>
                </a:solidFill>
              </a:rPr>
              <a:t>b</a:t>
            </a:r>
            <a:r>
              <a:rPr lang="en-US" sz="1800" b="1" dirty="0">
                <a:solidFill>
                  <a:srgbClr val="0891B2"/>
                </a:solidFill>
              </a:rPr>
              <a:t>uilt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937"/>
                </a:solidFill>
              </a:rPr>
              <a:t>A modular, microservices-based ML bioinformatics pipeline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Downloads RNA-seq data from NASA OSDR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Applies CV filtering for feature selection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Trains ensemble of 5 ML algorithms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Computes consensus feature importance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Runs DESeq2 differential expression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Tracks all experiments for reproducibility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Key Innovations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Dual Analysis: ML consensus + DESeq2 statistics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Same Gene Filtering: Fair comparison between methods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Ensemble Approach: Robust feature selection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Docker + gRPC: Reproducible, scalable, language-agnostic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System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</a:rPr>
              <a:t>End-to-End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645920" cy="7315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1. Download RNA-seq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4560" y="1554480"/>
            <a:ext cx="457200" cy="365760"/>
          </a:xfrm>
          <a:prstGeom prst="rightArrow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1645920" cy="7315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2. Filter &amp; Transform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457200" cy="365760"/>
          </a:xfrm>
          <a:prstGeom prst="rightArrow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0" y="1371600"/>
            <a:ext cx="1645920" cy="7315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3. Train Ensemble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554480"/>
            <a:ext cx="457200" cy="365760"/>
          </a:xfrm>
          <a:prstGeom prst="rightArrow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0" y="1371600"/>
            <a:ext cx="1371600" cy="7315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0" y="13716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4. Feature Importance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1645920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5. Consensus Aggregation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94560" y="2743200"/>
            <a:ext cx="457200" cy="365760"/>
          </a:xfrm>
          <a:prstGeom prst="rightArrow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0" y="2560320"/>
            <a:ext cx="1645920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0" y="2560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6. DESeq2 Analysis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2743200"/>
            <a:ext cx="457200" cy="365760"/>
          </a:xfrm>
          <a:prstGeom prst="rightArrow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0" y="2560320"/>
            <a:ext cx="1645920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2560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7. Compare Results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Key Outputs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0233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127 consensus ML features (≥3 models)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847 DESeq2 significant genes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43 high-confidence genes (ML ∩ DESeq2)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Microservices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891B2"/>
                </a:solidFill>
              </a:rPr>
              <a:t>7 Independent Services | Docker + gRPC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914400"/>
          </a:xfrm>
          <a:prstGeom prst="rect">
            <a:avLst/>
          </a:prstGeom>
          <a:solidFill>
            <a:srgbClr val="0891B2"/>
          </a:solidFill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Service:50051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743200" cy="914400"/>
          </a:xfrm>
          <a:prstGeom prst="rect">
            <a:avLst/>
          </a:prstGeom>
          <a:solidFill>
            <a:srgbClr val="0891B2"/>
          </a:solidFill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ML Service:50052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2743200" cy="914400"/>
          </a:xfrm>
          <a:prstGeom prst="rect">
            <a:avLst/>
          </a:prstGeom>
          <a:solidFill>
            <a:srgbClr val="0891B2"/>
          </a:solidFill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 Importance:50053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2743200" cy="914400"/>
          </a:xfrm>
          <a:prstGeom prst="rect">
            <a:avLst/>
          </a:prstGeom>
          <a:solidFill>
            <a:srgbClr val="0891B2"/>
          </a:solidFill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Bioinformatics Service (R):50054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2560320"/>
            <a:ext cx="2743200" cy="914400"/>
          </a:xfrm>
          <a:prstGeom prst="rect">
            <a:avLst/>
          </a:prstGeom>
          <a:solidFill>
            <a:srgbClr val="0891B2"/>
          </a:solidFill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2560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Experiment Service:50055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2743200" cy="914400"/>
          </a:xfrm>
          <a:prstGeom prst="rect">
            <a:avLst/>
          </a:prstGeom>
          <a:solidFill>
            <a:srgbClr val="10B981"/>
          </a:solidFill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Orchestration Service (REST API):8000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Why gRPC + Docker?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</a:rPr>
              <a:t>gRPC Benefits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7377" y="1554480"/>
            <a:ext cx="4384623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Type Safety: Protocol buffers enforce contracts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Performance: Binary protocol, 5-10x faster than REST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Streaming: Efficient for large datasets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Language Agnostic: Python ↔ R seamlessly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</a:rPr>
              <a:t>Docker Benefits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631961" y="1554480"/>
            <a:ext cx="4054839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Isolation: Each service has own dependencies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Reproducibility: Same environment everywhere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Scalability: Easy to replicate services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Development: Services tested independently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8A"/>
                </a:solidFill>
              </a:rPr>
              <a:t>Result: Modular, maintainable, scalable pipeline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Data Service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891B2"/>
                </a:solidFill>
              </a:rPr>
              <a:t>Port 50051 | Data Acquisition, Storage, Transformation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Key Features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NASA OSDR Integration: Download RNA-seq data from public repository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Smart Caching: MD5-based cache to avoid redundant downloads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CV Filtering: Select most variable genes (55K → 3K features)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Transformations: log, standardize, TPM for ML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gRPC Streaming: Efficient transfer of large datasets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Three Dataset Types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389120"/>
            <a:ext cx="274320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Raw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Untransformed counts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4389120"/>
            <a:ext cx="274320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Filtered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CV-filtered, raw (DESeq2)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4389120"/>
            <a:ext cx="274320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Transformed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CV-filtered + log + standardize (ML)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ML Service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891B2"/>
                </a:solidFill>
              </a:rPr>
              <a:t>Port 50052 | Ensemble Training &amp; Model Management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Ensemble Training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Trains 5 algorithms simultaneously on same train/test split: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0116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24688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2468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XGBoost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29260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63040" y="2926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SVM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3832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63040" y="3383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Logistic Regression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38404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63040" y="3840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Neural Network (MLP)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Benefits of Ensemble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Robust feature selection from multiple perspectives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Fair comparison (same data split)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Consensus reduces overfitting to any single algorithm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Feature Importance Service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891B2"/>
                </a:solidFill>
              </a:rPr>
              <a:t>Port 50053 | Compute Feature Rankings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Permutation importance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How it works: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  1. Baseline model score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  2. Shuffle each feature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  3. Re-score model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  4. Importance = drop in score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Pros: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  ✓ Works for any model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Cons: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  ✗ Slow (many predictions)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4114800" cy="27432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Random feature elimination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How it works: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  1. Baseline model score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  2. Randomly eliminate a feature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  3. Re-score model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  4. importance = drop in score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Pros: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  ✓ Works for any model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Cons: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  ✗ Slow (many predictions)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</a:rPr>
              <a:t>Output: Ranked features for each of 5 models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Consensus Feature Aggregation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891B2"/>
                </a:solidFill>
              </a:rPr>
              <a:t>Combining Rankings Across 5 Models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Algorithm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1. Extract top-N features from each model (default: 100)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2. Track which models selected each gene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3. Filter genes appearing in ≥ M models (default: 3)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4. Sort by: # models (desc), then average rank (asc)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Example Consensus Results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623125"/>
            <a:ext cx="8229600" cy="36576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623125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3623125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3623125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Avg Rank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3623125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Avg Importance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0" y="3623125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Confidence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88885"/>
            <a:ext cx="8229600" cy="2743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98888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GENE_A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988885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5/5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3988885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2.1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94960" y="3988885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0.42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3988885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Very High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63205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26320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GENE_B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4263205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5/5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4263205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4.3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4263205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0.38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4263205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Very High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537525"/>
            <a:ext cx="8229600" cy="2743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53752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GENE_C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4537525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4/5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4537525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6.8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4537525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0.31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4537525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High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811845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481184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GENE_D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68880" y="4811845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3/5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31920" y="4811845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12.4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4811845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0.24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32320" y="4811845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Medium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Bioinformatics Service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891B2"/>
                </a:solidFill>
              </a:rPr>
              <a:t>Port 50054 | R-based Analysis (DESeq2, KEGG)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132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DESeq2 Differential Expression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2899" y="1645920"/>
            <a:ext cx="4246713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Input: Filtered raw counts (NOT transformed!)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Requirements:</a:t>
            </a:r>
            <a:endParaRPr lang="en-US" sz="1300" dirty="0"/>
          </a:p>
          <a:p>
            <a:pPr marL="1028700" lvl="2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Raw integer counts</a:t>
            </a:r>
            <a:endParaRPr lang="en-US" sz="1300" dirty="0"/>
          </a:p>
          <a:p>
            <a:pPr marL="1028700" lvl="2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Genes as rows, samples as columns</a:t>
            </a:r>
            <a:endParaRPr lang="en-US" sz="1300" dirty="0"/>
          </a:p>
          <a:p>
            <a:pPr marL="1028700" lvl="2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Condition metadata mapped to samples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Statistical Analysis: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Negative binomial model for count data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Library size normalization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Multiple testing correction (Benjamini-Hochberg)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326036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Why DESeq2 + ML Consensus?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37025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2937"/>
                </a:solidFill>
              </a:rPr>
              <a:t>Genes in both = highest confidence biomarkers</a:t>
            </a:r>
            <a:endParaRPr lang="en-US" sz="14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648E8BF4-98D8-31A0-29EA-35BC4C02F2A8}"/>
              </a:ext>
            </a:extLst>
          </p:cNvPr>
          <p:cNvSpPr/>
          <p:nvPr/>
        </p:nvSpPr>
        <p:spPr>
          <a:xfrm>
            <a:off x="5481404" y="1280160"/>
            <a:ext cx="3132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Gene set enrichment</a:t>
            </a:r>
            <a:endParaRPr lang="en-US" sz="18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7B3594C-C4A9-DEA7-8AD0-760BF2E00917}"/>
              </a:ext>
            </a:extLst>
          </p:cNvPr>
          <p:cNvSpPr/>
          <p:nvPr/>
        </p:nvSpPr>
        <p:spPr>
          <a:xfrm>
            <a:off x="4440087" y="1645920"/>
            <a:ext cx="4246713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Input:</a:t>
            </a:r>
          </a:p>
          <a:p>
            <a:pPr marL="8001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list of genes</a:t>
            </a:r>
          </a:p>
          <a:p>
            <a:pPr marL="8001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List of gene set libraries to analyze</a:t>
            </a:r>
          </a:p>
          <a:p>
            <a:pPr>
              <a:buSzPct val="100000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Statistical Analysis: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Negative binomial model for count data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Library size normalization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Multiple testing correction (FDR)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Pipeline 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891B2"/>
                </a:solidFill>
              </a:rPr>
              <a:t>Example: OSD-48 (Spaceflight vs Ground Control)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1188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92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Consensus ML Features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2743200" cy="1188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83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004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DESeq2 Significant Genes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371600"/>
            <a:ext cx="2743200" cy="1188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43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9436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Overlap (High Confidence)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Model Performance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Random Forest: 95% accuracy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XGBoost: 93% accuracy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SVM: 91% accuracy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Neural Network: 92% accuracy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Logistic Regression: 89% accuracy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Gene Categories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329184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43 genes: ML + DESeq2 (strongest)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92 genes: ML only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83 genes: DESeq2 only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Strengths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Modularity &amp; Maintainability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Independent services, clear boundaries, easy to understand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Reproducibility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Docker containers, experiment tracking, data caching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Scalability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834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Horizontal scaling, resource allocation, async operations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291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Robust Feature Selection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566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Ensemble voting reduces overfitting, consensus increases confidence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4023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ML + Traditional Bioinformatics Integration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Best of both worlds: ML feature selection + DESeq2 statistics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Weaknesses &amp; Limitations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Small Sample Size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18 samples (14 train, 4 test) → high overfitting risk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Feature Order Bias (Current Bug)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Top genes are alphabetically first → needs debugging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291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No Hyperparameter Tuning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566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Using default parameters → missing potential performance gains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4023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No Web Interface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Command line only, not user-friendly for non-programmers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Future Directions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</a:rPr>
              <a:t>Short Term (1-2 month)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Fix Feature importance</a:t>
            </a:r>
          </a:p>
          <a:p>
            <a:pPr marL="8001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Order Bias (CRITICAL)</a:t>
            </a:r>
            <a:endParaRPr lang="en-US" sz="1300" dirty="0"/>
          </a:p>
          <a:p>
            <a:pPr marL="8001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Debug alphabetical ordering</a:t>
            </a:r>
          </a:p>
          <a:p>
            <a:pPr marL="8001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Speed up</a:t>
            </a:r>
          </a:p>
          <a:p>
            <a:pPr marL="8001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randomize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Add Cross-Validation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  5-fold or 10-fold CV instead of single split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  More reliable performance estimates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Hyperparameter Tuning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  Grid search or random search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  Optimize for each dataset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Add multiple data sets</a:t>
            </a: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Add data augmentation to address small sample size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Integrate CRISP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Add graphs, tables, figures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Pretrain on ARCHS4 (e.g. predict tissue) and fine-tune on OSDR (e.g. </a:t>
            </a:r>
            <a:r>
              <a:rPr lang="en-US" sz="1300">
                <a:solidFill>
                  <a:srgbClr val="1F2937"/>
                </a:solidFill>
              </a:rPr>
              <a:t>predict flight)? </a:t>
            </a:r>
            <a:endParaRPr lang="en-US" sz="1300" dirty="0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Future Directions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</a:rPr>
              <a:t>Medium Term (2-3 months)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Integrate other assets</a:t>
            </a:r>
          </a:p>
          <a:p>
            <a:pPr marL="8001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Integrate KG</a:t>
            </a:r>
          </a:p>
          <a:p>
            <a:pPr marL="8001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Integrate FM?</a:t>
            </a:r>
          </a:p>
          <a:p>
            <a:pPr marL="8001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Integrate CVAE?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endParaRPr lang="en-US" sz="1300" dirty="0">
              <a:solidFill>
                <a:srgbClr val="1F2937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Web Dashboard (HIGH PRIORITY)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  React/Vue frontend with real-time progress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  Interactive visualizations (D3.js, Plotly)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  Browse and compare experiments</a:t>
            </a:r>
          </a:p>
          <a:p>
            <a:pPr marL="342900" lvl="1">
              <a:buSzPct val="100000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Performance Monitoring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Grafana dashboards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1347</Words>
  <Application>Microsoft Macintosh PowerPoint</Application>
  <PresentationFormat>On-screen Show (16:9)</PresentationFormat>
  <Paragraphs>300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Bioinformatics Pipeline</dc:title>
  <dc:subject>PptxGenJS Presentation</dc:subject>
  <dc:creator>ML Bioinformatics Team</dc:creator>
  <cp:lastModifiedBy>Casaletto, James A. (ARC-SCR)[Blue Marble Space]</cp:lastModifiedBy>
  <cp:revision>6</cp:revision>
  <dcterms:created xsi:type="dcterms:W3CDTF">2026-05-26T06:52:19Z</dcterms:created>
  <dcterms:modified xsi:type="dcterms:W3CDTF">2026-05-26T19:08:31Z</dcterms:modified>
</cp:coreProperties>
</file>